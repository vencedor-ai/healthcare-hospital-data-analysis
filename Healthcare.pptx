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35333C-33AD-49CD-B9CF-D9127AC1A30E}"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3390886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35333C-33AD-49CD-B9CF-D9127AC1A30E}"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48682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35333C-33AD-49CD-B9CF-D9127AC1A30E}"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4259330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35333C-33AD-49CD-B9CF-D9127AC1A30E}"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2447785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35333C-33AD-49CD-B9CF-D9127AC1A30E}" type="datetimeFigureOut">
              <a:rPr lang="en-US" smtClean="0"/>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2399082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35333C-33AD-49CD-B9CF-D9127AC1A30E}"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199354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0935333C-33AD-49CD-B9CF-D9127AC1A30E}" type="datetimeFigureOut">
              <a:rPr lang="en-US" smtClean="0"/>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246151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35333C-33AD-49CD-B9CF-D9127AC1A30E}"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82778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35333C-33AD-49CD-B9CF-D9127AC1A30E}"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1759964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35333C-33AD-49CD-B9CF-D9127AC1A30E}"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2510251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35333C-33AD-49CD-B9CF-D9127AC1A30E}"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1305642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35333C-33AD-49CD-B9CF-D9127AC1A30E}"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298CCD45-F7DD-4463-BBE2-3C5DFE47334F}"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403633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35333C-33AD-49CD-B9CF-D9127AC1A30E}"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569473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35333C-33AD-49CD-B9CF-D9127AC1A30E}"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3959289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35333C-33AD-49CD-B9CF-D9127AC1A30E}"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2418366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35333C-33AD-49CD-B9CF-D9127AC1A30E}"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CCD45-F7DD-4463-BBE2-3C5DFE47334F}" type="slidenum">
              <a:rPr lang="en-US" smtClean="0"/>
              <a:t>‹#›</a:t>
            </a:fld>
            <a:endParaRPr lang="en-US"/>
          </a:p>
        </p:txBody>
      </p:sp>
    </p:spTree>
    <p:extLst>
      <p:ext uri="{BB962C8B-B14F-4D97-AF65-F5344CB8AC3E}">
        <p14:creationId xmlns:p14="http://schemas.microsoft.com/office/powerpoint/2010/main" val="7741334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0935333C-33AD-49CD-B9CF-D9127AC1A30E}" type="datetimeFigureOut">
              <a:rPr lang="en-US" smtClean="0"/>
              <a:t>3/6/2026</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298CCD45-F7DD-4463-BBE2-3C5DFE47334F}" type="slidenum">
              <a:rPr lang="en-US" smtClean="0"/>
              <a:t>‹#›</a:t>
            </a:fld>
            <a:endParaRPr lang="en-US"/>
          </a:p>
        </p:txBody>
      </p:sp>
    </p:spTree>
    <p:extLst>
      <p:ext uri="{BB962C8B-B14F-4D97-AF65-F5344CB8AC3E}">
        <p14:creationId xmlns:p14="http://schemas.microsoft.com/office/powerpoint/2010/main" val="3908403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935333C-33AD-49CD-B9CF-D9127AC1A30E}" type="datetimeFigureOut">
              <a:rPr lang="en-US" smtClean="0"/>
              <a:t>3/6/2026</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298CCD45-F7DD-4463-BBE2-3C5DFE47334F}" type="slidenum">
              <a:rPr lang="en-US" smtClean="0"/>
              <a:t>‹#›</a:t>
            </a:fld>
            <a:endParaRPr lang="en-US"/>
          </a:p>
        </p:txBody>
      </p:sp>
    </p:spTree>
    <p:extLst>
      <p:ext uri="{BB962C8B-B14F-4D97-AF65-F5344CB8AC3E}">
        <p14:creationId xmlns:p14="http://schemas.microsoft.com/office/powerpoint/2010/main" val="3379846150"/>
      </p:ext>
    </p:extLst>
  </p:cSld>
  <p:clrMap bg1="dk1" tx1="lt1" bg2="dk2" tx2="lt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94C7C-04CB-4379-91AD-7280FEEFB64F}"/>
              </a:ext>
            </a:extLst>
          </p:cNvPr>
          <p:cNvSpPr>
            <a:spLocks noGrp="1"/>
          </p:cNvSpPr>
          <p:nvPr>
            <p:ph type="ctrTitle"/>
          </p:nvPr>
        </p:nvSpPr>
        <p:spPr>
          <a:xfrm>
            <a:off x="-190502" y="1692493"/>
            <a:ext cx="8915399" cy="2491407"/>
          </a:xfrm>
        </p:spPr>
        <p:txBody>
          <a:bodyPr/>
          <a:lstStyle/>
          <a:p>
            <a:r>
              <a:rPr lang="en-US" b="1" dirty="0">
                <a:solidFill>
                  <a:schemeClr val="tx1"/>
                </a:solidFill>
              </a:rPr>
              <a:t>HEALTHCARE DASHBOARD</a:t>
            </a:r>
            <a:br>
              <a:rPr lang="en-US" b="1" dirty="0">
                <a:solidFill>
                  <a:schemeClr val="tx1"/>
                </a:solidFill>
              </a:rPr>
            </a:br>
            <a:r>
              <a:rPr lang="en-US" b="1" dirty="0">
                <a:solidFill>
                  <a:schemeClr val="tx1"/>
                </a:solidFill>
              </a:rPr>
              <a:t>ANALYSIS REPORT</a:t>
            </a:r>
          </a:p>
        </p:txBody>
      </p:sp>
      <p:sp>
        <p:nvSpPr>
          <p:cNvPr id="3" name="Subtitle 2">
            <a:extLst>
              <a:ext uri="{FF2B5EF4-FFF2-40B4-BE49-F238E27FC236}">
                <a16:creationId xmlns:a16="http://schemas.microsoft.com/office/drawing/2014/main" id="{28E0BF1D-08F1-43EE-BED2-E57D9783790A}"/>
              </a:ext>
            </a:extLst>
          </p:cNvPr>
          <p:cNvSpPr>
            <a:spLocks noGrp="1"/>
          </p:cNvSpPr>
          <p:nvPr>
            <p:ph type="subTitle" idx="1"/>
          </p:nvPr>
        </p:nvSpPr>
        <p:spPr/>
        <p:txBody>
          <a:bodyPr>
            <a:normAutofit/>
          </a:bodyPr>
          <a:lstStyle/>
          <a:p>
            <a:r>
              <a:rPr lang="en-US" sz="2800" b="1" dirty="0">
                <a:solidFill>
                  <a:schemeClr val="tx1"/>
                </a:solidFill>
              </a:rPr>
              <a:t>SUMMARY OF KEY RESULTS FROM THE POWER BI ANALYSIS FOR MANAGEMENT REVIEW</a:t>
            </a:r>
            <a:r>
              <a:rPr lang="en-US" sz="2800" b="1" dirty="0">
                <a:solidFill>
                  <a:srgbClr val="002060"/>
                </a:solidFill>
              </a:rPr>
              <a:t>.</a:t>
            </a:r>
          </a:p>
        </p:txBody>
      </p:sp>
    </p:spTree>
    <p:extLst>
      <p:ext uri="{BB962C8B-B14F-4D97-AF65-F5344CB8AC3E}">
        <p14:creationId xmlns:p14="http://schemas.microsoft.com/office/powerpoint/2010/main" val="119816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F9D00-7823-4CEB-BA32-82751F3B4DF5}"/>
              </a:ext>
            </a:extLst>
          </p:cNvPr>
          <p:cNvSpPr>
            <a:spLocks noGrp="1"/>
          </p:cNvSpPr>
          <p:nvPr>
            <p:ph type="title"/>
          </p:nvPr>
        </p:nvSpPr>
        <p:spPr/>
        <p:txBody>
          <a:bodyPr>
            <a:normAutofit/>
          </a:bodyPr>
          <a:lstStyle/>
          <a:p>
            <a:pPr algn="ctr"/>
            <a:r>
              <a:rPr lang="en-US" sz="6000" b="1" dirty="0">
                <a:solidFill>
                  <a:schemeClr val="tx1"/>
                </a:solidFill>
              </a:rPr>
              <a:t>EXECUTIVE SUMMARY </a:t>
            </a:r>
          </a:p>
        </p:txBody>
      </p:sp>
      <p:sp>
        <p:nvSpPr>
          <p:cNvPr id="3" name="Content Placeholder 2">
            <a:extLst>
              <a:ext uri="{FF2B5EF4-FFF2-40B4-BE49-F238E27FC236}">
                <a16:creationId xmlns:a16="http://schemas.microsoft.com/office/drawing/2014/main" id="{63640FB2-4B05-481F-84CE-340FD919B9D3}"/>
              </a:ext>
            </a:extLst>
          </p:cNvPr>
          <p:cNvSpPr>
            <a:spLocks noGrp="1"/>
          </p:cNvSpPr>
          <p:nvPr>
            <p:ph idx="1"/>
          </p:nvPr>
        </p:nvSpPr>
        <p:spPr>
          <a:xfrm>
            <a:off x="680321" y="2363376"/>
            <a:ext cx="9613861" cy="3997667"/>
          </a:xfrm>
        </p:spPr>
        <p:txBody>
          <a:bodyPr>
            <a:normAutofit fontScale="92500" lnSpcReduction="10000"/>
          </a:bodyPr>
          <a:lstStyle/>
          <a:p>
            <a:pPr>
              <a:buFont typeface="Wingdings" panose="05000000000000000000" pitchFamily="2" charset="2"/>
              <a:buChar char="v"/>
            </a:pPr>
            <a:r>
              <a:rPr lang="en-US" sz="2400" b="1" dirty="0"/>
              <a:t>The Overall </a:t>
            </a:r>
            <a:r>
              <a:rPr lang="en-US" b="1" dirty="0"/>
              <a:t>YTD Patient</a:t>
            </a:r>
            <a:r>
              <a:rPr lang="en-US" sz="2400" b="1" dirty="0"/>
              <a:t> increased by 12.23% compared to PYTD Patient</a:t>
            </a:r>
          </a:p>
          <a:p>
            <a:pPr>
              <a:buFont typeface="Wingdings" panose="05000000000000000000" pitchFamily="2" charset="2"/>
              <a:buChar char="v"/>
            </a:pPr>
            <a:r>
              <a:rPr lang="en-US" sz="2400" b="1" dirty="0"/>
              <a:t>YTD Patient is 2M</a:t>
            </a:r>
          </a:p>
          <a:p>
            <a:pPr>
              <a:buFont typeface="Wingdings" panose="05000000000000000000" pitchFamily="2" charset="2"/>
              <a:buChar char="v"/>
            </a:pPr>
            <a:r>
              <a:rPr lang="en-US" sz="2400" b="1" dirty="0"/>
              <a:t>YTD Inpatient is 68K</a:t>
            </a:r>
          </a:p>
          <a:p>
            <a:pPr>
              <a:buFont typeface="Wingdings" panose="05000000000000000000" pitchFamily="2" charset="2"/>
              <a:buChar char="v"/>
            </a:pPr>
            <a:r>
              <a:rPr lang="en-US" sz="2400" b="1" dirty="0"/>
              <a:t>YOY Inpatient increased by 5.60%</a:t>
            </a:r>
          </a:p>
          <a:p>
            <a:pPr>
              <a:buFont typeface="Wingdings" panose="05000000000000000000" pitchFamily="2" charset="2"/>
              <a:buChar char="v"/>
            </a:pPr>
            <a:r>
              <a:rPr lang="en-US" sz="2400" b="1" dirty="0"/>
              <a:t>YTD Outpatient is 2M</a:t>
            </a:r>
          </a:p>
          <a:p>
            <a:pPr>
              <a:buFont typeface="Wingdings" panose="05000000000000000000" pitchFamily="2" charset="2"/>
              <a:buChar char="v"/>
            </a:pPr>
            <a:r>
              <a:rPr lang="en-US" sz="2400" b="1" dirty="0"/>
              <a:t>YOY </a:t>
            </a:r>
            <a:r>
              <a:rPr lang="en-US" b="1" dirty="0"/>
              <a:t>Out</a:t>
            </a:r>
            <a:r>
              <a:rPr lang="en-US" sz="2400" b="1" dirty="0"/>
              <a:t>patient increased by 11.95%</a:t>
            </a:r>
          </a:p>
          <a:p>
            <a:pPr>
              <a:buFont typeface="Wingdings" panose="05000000000000000000" pitchFamily="2" charset="2"/>
              <a:buChar char="v"/>
            </a:pPr>
            <a:r>
              <a:rPr lang="en-US" b="1" dirty="0"/>
              <a:t>Y</a:t>
            </a:r>
            <a:r>
              <a:rPr lang="en-US" sz="2400" b="1" dirty="0"/>
              <a:t>TD  Day Case is </a:t>
            </a:r>
            <a:r>
              <a:rPr lang="en-US" b="1" dirty="0"/>
              <a:t>175K</a:t>
            </a:r>
            <a:endParaRPr lang="en-US" sz="2400" b="1" dirty="0"/>
          </a:p>
          <a:p>
            <a:pPr>
              <a:buFont typeface="Wingdings" panose="05000000000000000000" pitchFamily="2" charset="2"/>
              <a:buChar char="v"/>
            </a:pPr>
            <a:r>
              <a:rPr lang="en-US" sz="2400" b="1" dirty="0"/>
              <a:t>YOY </a:t>
            </a:r>
            <a:r>
              <a:rPr lang="en-US" sz="2400" b="1"/>
              <a:t>Day Case </a:t>
            </a:r>
            <a:r>
              <a:rPr lang="en-US" sz="2400" b="1" dirty="0"/>
              <a:t>Increased by 18.30%</a:t>
            </a:r>
          </a:p>
          <a:p>
            <a:pPr marL="0" indent="0">
              <a:buNone/>
            </a:pPr>
            <a:r>
              <a:rPr lang="en-US" sz="2400" b="1" dirty="0"/>
              <a:t> </a:t>
            </a:r>
          </a:p>
        </p:txBody>
      </p:sp>
      <p:cxnSp>
        <p:nvCxnSpPr>
          <p:cNvPr id="5" name="Straight Connector 4">
            <a:extLst>
              <a:ext uri="{FF2B5EF4-FFF2-40B4-BE49-F238E27FC236}">
                <a16:creationId xmlns:a16="http://schemas.microsoft.com/office/drawing/2014/main" id="{3D44E39C-D98E-4792-B3F9-05C729B5D735}"/>
              </a:ext>
            </a:extLst>
          </p:cNvPr>
          <p:cNvCxnSpPr/>
          <p:nvPr/>
        </p:nvCxnSpPr>
        <p:spPr>
          <a:xfrm>
            <a:off x="2690191" y="1696278"/>
            <a:ext cx="829586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731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60AB3-69D9-46BC-A17C-204664CEE5C0}"/>
              </a:ext>
            </a:extLst>
          </p:cNvPr>
          <p:cNvSpPr>
            <a:spLocks noGrp="1"/>
          </p:cNvSpPr>
          <p:nvPr>
            <p:ph type="title"/>
          </p:nvPr>
        </p:nvSpPr>
        <p:spPr>
          <a:xfrm>
            <a:off x="1640156" y="597229"/>
            <a:ext cx="8911687" cy="1280890"/>
          </a:xfrm>
        </p:spPr>
        <p:txBody>
          <a:bodyPr>
            <a:normAutofit/>
          </a:bodyPr>
          <a:lstStyle/>
          <a:p>
            <a:r>
              <a:rPr lang="en-US" sz="4000" b="1" dirty="0">
                <a:solidFill>
                  <a:schemeClr val="tx1"/>
                </a:solidFill>
              </a:rPr>
              <a:t>PATIENT PERFORMANCE INSIGHT </a:t>
            </a:r>
          </a:p>
        </p:txBody>
      </p:sp>
      <p:sp>
        <p:nvSpPr>
          <p:cNvPr id="3" name="Content Placeholder 2">
            <a:extLst>
              <a:ext uri="{FF2B5EF4-FFF2-40B4-BE49-F238E27FC236}">
                <a16:creationId xmlns:a16="http://schemas.microsoft.com/office/drawing/2014/main" id="{33178F68-8791-4DFB-9AD1-125429BDABC0}"/>
              </a:ext>
            </a:extLst>
          </p:cNvPr>
          <p:cNvSpPr>
            <a:spLocks noGrp="1"/>
          </p:cNvSpPr>
          <p:nvPr>
            <p:ph idx="1"/>
          </p:nvPr>
        </p:nvSpPr>
        <p:spPr>
          <a:xfrm>
            <a:off x="1189520" y="2216049"/>
            <a:ext cx="9839877" cy="4224507"/>
          </a:xfrm>
        </p:spPr>
        <p:txBody>
          <a:bodyPr>
            <a:normAutofit/>
          </a:bodyPr>
          <a:lstStyle/>
          <a:p>
            <a:pPr marL="0" indent="0">
              <a:buNone/>
            </a:pPr>
            <a:r>
              <a:rPr lang="en-US" sz="2800" b="1" dirty="0">
                <a:solidFill>
                  <a:schemeClr val="tx1"/>
                </a:solidFill>
              </a:rPr>
              <a:t>THE YTD PATIENT BY AGE_PROFILE</a:t>
            </a:r>
          </a:p>
          <a:p>
            <a:pPr>
              <a:buFont typeface="Wingdings" panose="05000000000000000000" pitchFamily="2" charset="2"/>
              <a:buChar char="v"/>
            </a:pPr>
            <a:r>
              <a:rPr lang="en-US" sz="2000" dirty="0">
                <a:solidFill>
                  <a:schemeClr val="tx1"/>
                </a:solidFill>
              </a:rPr>
              <a:t>The Age 0-15 influenced a total of </a:t>
            </a:r>
            <a:r>
              <a:rPr lang="en-US" sz="2000" b="1" dirty="0">
                <a:solidFill>
                  <a:schemeClr val="tx1"/>
                </a:solidFill>
              </a:rPr>
              <a:t>26.5K</a:t>
            </a:r>
            <a:r>
              <a:rPr lang="en-US" sz="2000" dirty="0">
                <a:solidFill>
                  <a:schemeClr val="tx1"/>
                </a:solidFill>
              </a:rPr>
              <a:t> with 12.54%</a:t>
            </a:r>
            <a:endParaRPr lang="en-US" sz="2000" b="1" dirty="0">
              <a:solidFill>
                <a:schemeClr val="tx1"/>
              </a:solidFill>
            </a:endParaRPr>
          </a:p>
          <a:p>
            <a:pPr>
              <a:buFont typeface="Wingdings" panose="05000000000000000000" pitchFamily="2" charset="2"/>
              <a:buChar char="v"/>
            </a:pPr>
            <a:r>
              <a:rPr lang="en-US" sz="2000" dirty="0">
                <a:solidFill>
                  <a:schemeClr val="tx1"/>
                </a:solidFill>
              </a:rPr>
              <a:t>Age 16-64 influenced a total of </a:t>
            </a:r>
            <a:r>
              <a:rPr lang="en-US" sz="2000" b="1" dirty="0">
                <a:solidFill>
                  <a:schemeClr val="tx1"/>
                </a:solidFill>
              </a:rPr>
              <a:t>132k </a:t>
            </a:r>
            <a:r>
              <a:rPr lang="en-US" sz="2000" dirty="0">
                <a:solidFill>
                  <a:schemeClr val="tx1"/>
                </a:solidFill>
              </a:rPr>
              <a:t>with 62.3%</a:t>
            </a:r>
            <a:endParaRPr lang="en-US" sz="2000" b="1" dirty="0">
              <a:solidFill>
                <a:schemeClr val="tx1"/>
              </a:solidFill>
            </a:endParaRPr>
          </a:p>
          <a:p>
            <a:pPr>
              <a:buFont typeface="Wingdings" panose="05000000000000000000" pitchFamily="2" charset="2"/>
              <a:buChar char="v"/>
            </a:pPr>
            <a:r>
              <a:rPr lang="en-US" sz="2000" dirty="0">
                <a:solidFill>
                  <a:schemeClr val="tx1"/>
                </a:solidFill>
              </a:rPr>
              <a:t>Age 65+ influenced a total of </a:t>
            </a:r>
            <a:r>
              <a:rPr lang="en-US" sz="2000" b="1" dirty="0">
                <a:solidFill>
                  <a:schemeClr val="tx1"/>
                </a:solidFill>
              </a:rPr>
              <a:t>53K</a:t>
            </a:r>
            <a:r>
              <a:rPr lang="en-US" sz="2000" dirty="0">
                <a:solidFill>
                  <a:schemeClr val="tx1"/>
                </a:solidFill>
              </a:rPr>
              <a:t> with 25.1%</a:t>
            </a:r>
            <a:endParaRPr lang="en-US" sz="2000" b="1" dirty="0">
              <a:solidFill>
                <a:schemeClr val="tx1"/>
              </a:solidFill>
            </a:endParaRPr>
          </a:p>
          <a:p>
            <a:pPr marL="0" indent="0">
              <a:buNone/>
            </a:pPr>
            <a:endParaRPr lang="en-US" sz="2000" b="1" dirty="0">
              <a:solidFill>
                <a:schemeClr val="tx1"/>
              </a:solidFill>
            </a:endParaRPr>
          </a:p>
          <a:p>
            <a:pPr marL="0" indent="0">
              <a:buNone/>
            </a:pPr>
            <a:r>
              <a:rPr lang="en-US" sz="3200" b="1" dirty="0">
                <a:solidFill>
                  <a:schemeClr val="tx1"/>
                </a:solidFill>
              </a:rPr>
              <a:t>THE YTD PATIENT BY CASE_TYPE</a:t>
            </a:r>
          </a:p>
          <a:p>
            <a:pPr>
              <a:buFont typeface="Wingdings" panose="05000000000000000000" pitchFamily="2" charset="2"/>
              <a:buChar char="v"/>
            </a:pPr>
            <a:r>
              <a:rPr lang="en-US" sz="2000" dirty="0">
                <a:solidFill>
                  <a:schemeClr val="tx1"/>
                </a:solidFill>
              </a:rPr>
              <a:t>Outpatient has the highest YTD Patient by </a:t>
            </a:r>
            <a:r>
              <a:rPr lang="en-US" sz="2000" dirty="0" err="1">
                <a:solidFill>
                  <a:schemeClr val="tx1"/>
                </a:solidFill>
              </a:rPr>
              <a:t>Case_type</a:t>
            </a:r>
            <a:r>
              <a:rPr lang="en-US" sz="2000" dirty="0">
                <a:solidFill>
                  <a:schemeClr val="tx1"/>
                </a:solidFill>
              </a:rPr>
              <a:t> with </a:t>
            </a:r>
            <a:r>
              <a:rPr lang="en-US" sz="2000" dirty="0"/>
              <a:t>88.21</a:t>
            </a:r>
            <a:r>
              <a:rPr lang="en-US" sz="2000" dirty="0">
                <a:solidFill>
                  <a:schemeClr val="tx1"/>
                </a:solidFill>
              </a:rPr>
              <a:t>%</a:t>
            </a:r>
          </a:p>
          <a:p>
            <a:pPr>
              <a:buFont typeface="Wingdings" panose="05000000000000000000" pitchFamily="2" charset="2"/>
              <a:buChar char="v"/>
            </a:pPr>
            <a:r>
              <a:rPr lang="en-US" sz="2000" dirty="0">
                <a:solidFill>
                  <a:schemeClr val="tx1"/>
                </a:solidFill>
              </a:rPr>
              <a:t>Day Case YTD Patient with </a:t>
            </a:r>
            <a:r>
              <a:rPr lang="en-US" sz="2000" b="1" dirty="0">
                <a:solidFill>
                  <a:schemeClr val="tx1"/>
                </a:solidFill>
              </a:rPr>
              <a:t>8.36%</a:t>
            </a:r>
          </a:p>
          <a:p>
            <a:pPr>
              <a:buFont typeface="Wingdings" panose="05000000000000000000" pitchFamily="2" charset="2"/>
              <a:buChar char="v"/>
            </a:pPr>
            <a:r>
              <a:rPr lang="en-US" sz="2000" dirty="0">
                <a:solidFill>
                  <a:schemeClr val="tx1"/>
                </a:solidFill>
              </a:rPr>
              <a:t>Inpatient YTD Patient  with </a:t>
            </a:r>
            <a:r>
              <a:rPr lang="en-US" sz="2000" b="1" dirty="0">
                <a:solidFill>
                  <a:schemeClr val="tx1"/>
                </a:solidFill>
              </a:rPr>
              <a:t>3.43% </a:t>
            </a:r>
          </a:p>
          <a:p>
            <a:pPr>
              <a:buFont typeface="Wingdings" panose="05000000000000000000" pitchFamily="2" charset="2"/>
              <a:buChar char="v"/>
            </a:pPr>
            <a:endParaRPr lang="en-US" sz="2000" b="1" dirty="0">
              <a:solidFill>
                <a:schemeClr val="tx1"/>
              </a:solidFill>
            </a:endParaRPr>
          </a:p>
          <a:p>
            <a:pPr marL="0" indent="0">
              <a:buNone/>
            </a:pPr>
            <a:endParaRPr lang="en-US" sz="3200" b="1" dirty="0">
              <a:solidFill>
                <a:schemeClr val="tx1"/>
              </a:solidFill>
            </a:endParaRPr>
          </a:p>
          <a:p>
            <a:pPr marL="0" indent="0">
              <a:buNone/>
            </a:pPr>
            <a:endParaRPr lang="en-US" sz="2000" b="1" dirty="0">
              <a:solidFill>
                <a:schemeClr val="tx1"/>
              </a:solidFill>
            </a:endParaRPr>
          </a:p>
        </p:txBody>
      </p:sp>
      <p:cxnSp>
        <p:nvCxnSpPr>
          <p:cNvPr id="5" name="Straight Connector 4">
            <a:extLst>
              <a:ext uri="{FF2B5EF4-FFF2-40B4-BE49-F238E27FC236}">
                <a16:creationId xmlns:a16="http://schemas.microsoft.com/office/drawing/2014/main" id="{A7227D5A-C0F8-434A-8211-DF6835C6B952}"/>
              </a:ext>
            </a:extLst>
          </p:cNvPr>
          <p:cNvCxnSpPr/>
          <p:nvPr/>
        </p:nvCxnSpPr>
        <p:spPr>
          <a:xfrm>
            <a:off x="1189520" y="1540188"/>
            <a:ext cx="89154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2366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8886A-B2B6-42E7-9762-075EF108CFCE}"/>
              </a:ext>
            </a:extLst>
          </p:cNvPr>
          <p:cNvSpPr>
            <a:spLocks noGrp="1"/>
          </p:cNvSpPr>
          <p:nvPr>
            <p:ph type="title"/>
          </p:nvPr>
        </p:nvSpPr>
        <p:spPr/>
        <p:txBody>
          <a:bodyPr>
            <a:normAutofit/>
          </a:bodyPr>
          <a:lstStyle/>
          <a:p>
            <a:r>
              <a:rPr lang="en-US" sz="4400" b="1" dirty="0">
                <a:solidFill>
                  <a:schemeClr val="tx1"/>
                </a:solidFill>
              </a:rPr>
              <a:t>PATIENT PERFORMANCE INSIGHT</a:t>
            </a:r>
          </a:p>
        </p:txBody>
      </p:sp>
      <p:sp>
        <p:nvSpPr>
          <p:cNvPr id="3" name="Content Placeholder 2">
            <a:extLst>
              <a:ext uri="{FF2B5EF4-FFF2-40B4-BE49-F238E27FC236}">
                <a16:creationId xmlns:a16="http://schemas.microsoft.com/office/drawing/2014/main" id="{0D8403A3-242A-43C8-9D1A-38ACF1E7AE90}"/>
              </a:ext>
            </a:extLst>
          </p:cNvPr>
          <p:cNvSpPr>
            <a:spLocks noGrp="1"/>
          </p:cNvSpPr>
          <p:nvPr>
            <p:ph idx="1"/>
          </p:nvPr>
        </p:nvSpPr>
        <p:spPr>
          <a:xfrm>
            <a:off x="1029551" y="2310585"/>
            <a:ext cx="8915400" cy="3777622"/>
          </a:xfrm>
        </p:spPr>
        <p:txBody>
          <a:bodyPr>
            <a:normAutofit/>
          </a:bodyPr>
          <a:lstStyle/>
          <a:p>
            <a:pPr marL="0" indent="0">
              <a:buNone/>
            </a:pPr>
            <a:r>
              <a:rPr lang="en-US" sz="2400" b="1" dirty="0">
                <a:solidFill>
                  <a:schemeClr val="tx1"/>
                </a:solidFill>
              </a:rPr>
              <a:t>YTD PATIENT BY ADULT_CHILD</a:t>
            </a:r>
            <a:endParaRPr lang="en-US" sz="2400" dirty="0">
              <a:solidFill>
                <a:schemeClr val="tx1"/>
              </a:solidFill>
            </a:endParaRPr>
          </a:p>
          <a:p>
            <a:pPr>
              <a:buFont typeface="Wingdings" panose="05000000000000000000" pitchFamily="2" charset="2"/>
              <a:buChar char="v"/>
            </a:pPr>
            <a:r>
              <a:rPr lang="en-US" sz="2000" dirty="0">
                <a:solidFill>
                  <a:schemeClr val="tx1"/>
                </a:solidFill>
              </a:rPr>
              <a:t>The Adult influenced a total of </a:t>
            </a:r>
            <a:r>
              <a:rPr lang="en-US" sz="2000" b="1" dirty="0">
                <a:solidFill>
                  <a:schemeClr val="tx1"/>
                </a:solidFill>
              </a:rPr>
              <a:t>1.85M</a:t>
            </a:r>
            <a:r>
              <a:rPr lang="en-US" sz="2000" dirty="0">
                <a:solidFill>
                  <a:schemeClr val="tx1"/>
                </a:solidFill>
              </a:rPr>
              <a:t> to the YTD Patient</a:t>
            </a:r>
          </a:p>
          <a:p>
            <a:pPr>
              <a:buFont typeface="Wingdings" panose="05000000000000000000" pitchFamily="2" charset="2"/>
              <a:buChar char="v"/>
            </a:pPr>
            <a:r>
              <a:rPr lang="en-US" sz="2000" dirty="0">
                <a:solidFill>
                  <a:schemeClr val="tx1"/>
                </a:solidFill>
              </a:rPr>
              <a:t>The Child influenced a total of 272k to the YTD Patient</a:t>
            </a:r>
          </a:p>
          <a:p>
            <a:pPr marL="0" indent="0">
              <a:buNone/>
            </a:pPr>
            <a:endParaRPr lang="en-US" sz="2000" dirty="0">
              <a:solidFill>
                <a:schemeClr val="tx1"/>
              </a:solidFill>
            </a:endParaRPr>
          </a:p>
        </p:txBody>
      </p:sp>
      <p:cxnSp>
        <p:nvCxnSpPr>
          <p:cNvPr id="5" name="Straight Connector 4">
            <a:extLst>
              <a:ext uri="{FF2B5EF4-FFF2-40B4-BE49-F238E27FC236}">
                <a16:creationId xmlns:a16="http://schemas.microsoft.com/office/drawing/2014/main" id="{0CCFA7C3-9F65-41CE-BFDB-B303B8966968}"/>
              </a:ext>
            </a:extLst>
          </p:cNvPr>
          <p:cNvCxnSpPr/>
          <p:nvPr/>
        </p:nvCxnSpPr>
        <p:spPr>
          <a:xfrm>
            <a:off x="2589212" y="1683026"/>
            <a:ext cx="773423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3211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6929E-403F-4BA0-9B7F-EA61688EF653}"/>
              </a:ext>
            </a:extLst>
          </p:cNvPr>
          <p:cNvSpPr>
            <a:spLocks noGrp="1"/>
          </p:cNvSpPr>
          <p:nvPr>
            <p:ph type="title"/>
          </p:nvPr>
        </p:nvSpPr>
        <p:spPr/>
        <p:txBody>
          <a:bodyPr>
            <a:normAutofit/>
          </a:bodyPr>
          <a:lstStyle/>
          <a:p>
            <a:pPr algn="ctr"/>
            <a:r>
              <a:rPr lang="en-US" sz="5400" b="1" dirty="0">
                <a:solidFill>
                  <a:schemeClr val="tx1"/>
                </a:solidFill>
              </a:rPr>
              <a:t>RECOMMENDATIONS</a:t>
            </a:r>
          </a:p>
        </p:txBody>
      </p:sp>
      <p:sp>
        <p:nvSpPr>
          <p:cNvPr id="3" name="Content Placeholder 2">
            <a:extLst>
              <a:ext uri="{FF2B5EF4-FFF2-40B4-BE49-F238E27FC236}">
                <a16:creationId xmlns:a16="http://schemas.microsoft.com/office/drawing/2014/main" id="{68110846-76A5-4C31-8376-9666EFE30329}"/>
              </a:ext>
            </a:extLst>
          </p:cNvPr>
          <p:cNvSpPr>
            <a:spLocks noGrp="1"/>
          </p:cNvSpPr>
          <p:nvPr>
            <p:ph idx="1"/>
          </p:nvPr>
        </p:nvSpPr>
        <p:spPr/>
        <p:txBody>
          <a:bodyPr>
            <a:normAutofit fontScale="92500" lnSpcReduction="10000"/>
          </a:bodyPr>
          <a:lstStyle/>
          <a:p>
            <a:pPr>
              <a:buFont typeface="Wingdings" panose="05000000000000000000" pitchFamily="2" charset="2"/>
              <a:buChar char="v"/>
            </a:pPr>
            <a:r>
              <a:rPr lang="en-US" dirty="0">
                <a:solidFill>
                  <a:schemeClr val="tx1"/>
                </a:solidFill>
              </a:rPr>
              <a:t>The YOY Patient growth is about 12.23%, indicating a steady increase in healthcare demand. The management should plan for future demand by expanding facilities, hiring more Doctors and Nurses and investing in medical equipment to handle the growing number of patients.</a:t>
            </a:r>
          </a:p>
          <a:p>
            <a:pPr>
              <a:buFont typeface="Wingdings" panose="05000000000000000000" pitchFamily="2" charset="2"/>
              <a:buChar char="v"/>
            </a:pPr>
            <a:r>
              <a:rPr lang="en-US" dirty="0"/>
              <a:t>Patients Age 65+ show significant growth (14%) YOY, indicating an aging population requiring more medical attention. The management should develop specialized Adult care program like Regular health monitoring, elder friendly facilities.</a:t>
            </a:r>
          </a:p>
          <a:p>
            <a:pPr>
              <a:buFont typeface="Wingdings" panose="05000000000000000000" pitchFamily="2" charset="2"/>
              <a:buChar char="v"/>
            </a:pPr>
            <a:r>
              <a:rPr lang="en-US" dirty="0">
                <a:solidFill>
                  <a:schemeClr val="tx1"/>
                </a:solidFill>
              </a:rPr>
              <a:t>Day Case show the highest growth rate of 18.30% YOY, meaning more patients are using short term treatment option. Management should expand the Day case unit and invest in equipment for minor procedures.</a:t>
            </a:r>
          </a:p>
        </p:txBody>
      </p:sp>
      <p:cxnSp>
        <p:nvCxnSpPr>
          <p:cNvPr id="5" name="Straight Connector 4">
            <a:extLst>
              <a:ext uri="{FF2B5EF4-FFF2-40B4-BE49-F238E27FC236}">
                <a16:creationId xmlns:a16="http://schemas.microsoft.com/office/drawing/2014/main" id="{32AC5ACA-62AF-4BBC-8F49-B8FDAE0260DC}"/>
              </a:ext>
            </a:extLst>
          </p:cNvPr>
          <p:cNvCxnSpPr/>
          <p:nvPr/>
        </p:nvCxnSpPr>
        <p:spPr>
          <a:xfrm>
            <a:off x="2589212" y="1683026"/>
            <a:ext cx="89154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422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6DC5C9-4016-4B94-B16B-A4F19CCE56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8470" y="2232251"/>
            <a:ext cx="9170504" cy="3783945"/>
          </a:xfrm>
          <a:prstGeom prst="rect">
            <a:avLst/>
          </a:prstGeom>
        </p:spPr>
      </p:pic>
      <p:sp>
        <p:nvSpPr>
          <p:cNvPr id="10" name="Title 9">
            <a:extLst>
              <a:ext uri="{FF2B5EF4-FFF2-40B4-BE49-F238E27FC236}">
                <a16:creationId xmlns:a16="http://schemas.microsoft.com/office/drawing/2014/main" id="{06A95C62-BF6E-4DC3-A0D9-4B8BDDFAE96F}"/>
              </a:ext>
            </a:extLst>
          </p:cNvPr>
          <p:cNvSpPr>
            <a:spLocks noGrp="1"/>
          </p:cNvSpPr>
          <p:nvPr>
            <p:ph type="title"/>
          </p:nvPr>
        </p:nvSpPr>
        <p:spPr>
          <a:xfrm>
            <a:off x="895112" y="841804"/>
            <a:ext cx="9613862" cy="588535"/>
          </a:xfrm>
        </p:spPr>
        <p:txBody>
          <a:bodyPr/>
          <a:lstStyle/>
          <a:p>
            <a:r>
              <a:rPr lang="en-US" b="1" dirty="0"/>
              <a:t>TABLE CHART OF THE MEAN AND MEDIAN </a:t>
            </a:r>
          </a:p>
        </p:txBody>
      </p:sp>
    </p:spTree>
    <p:extLst>
      <p:ext uri="{BB962C8B-B14F-4D97-AF65-F5344CB8AC3E}">
        <p14:creationId xmlns:p14="http://schemas.microsoft.com/office/powerpoint/2010/main" val="348502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95A67-5F6C-49A8-AE97-A83B380872E3}"/>
              </a:ext>
            </a:extLst>
          </p:cNvPr>
          <p:cNvSpPr>
            <a:spLocks noGrp="1"/>
          </p:cNvSpPr>
          <p:nvPr>
            <p:ph type="title"/>
          </p:nvPr>
        </p:nvSpPr>
        <p:spPr/>
        <p:txBody>
          <a:bodyPr/>
          <a:lstStyle/>
          <a:p>
            <a:r>
              <a:rPr lang="en-US" dirty="0"/>
              <a:t>YTD PATIENT BY AGE_PROFILE &amp; CASE_TYPE</a:t>
            </a:r>
          </a:p>
        </p:txBody>
      </p:sp>
      <p:pic>
        <p:nvPicPr>
          <p:cNvPr id="5" name="Content Placeholder 4">
            <a:extLst>
              <a:ext uri="{FF2B5EF4-FFF2-40B4-BE49-F238E27FC236}">
                <a16:creationId xmlns:a16="http://schemas.microsoft.com/office/drawing/2014/main" id="{394F9841-E4FB-44F7-AC2D-2927284599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0982" y="2874225"/>
            <a:ext cx="11230036" cy="2373359"/>
          </a:xfrm>
        </p:spPr>
      </p:pic>
    </p:spTree>
    <p:extLst>
      <p:ext uri="{BB962C8B-B14F-4D97-AF65-F5344CB8AC3E}">
        <p14:creationId xmlns:p14="http://schemas.microsoft.com/office/powerpoint/2010/main" val="1138187720"/>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8D4585"/>
      </a:dk2>
      <a:lt2>
        <a:srgbClr val="E7E6E6"/>
      </a:lt2>
      <a:accent1>
        <a:srgbClr val="F35AE6"/>
      </a:accent1>
      <a:accent2>
        <a:srgbClr val="FC5283"/>
      </a:accent2>
      <a:accent3>
        <a:srgbClr val="F67C64"/>
      </a:accent3>
      <a:accent4>
        <a:srgbClr val="F89F65"/>
      </a:accent4>
      <a:accent5>
        <a:srgbClr val="55C6BA"/>
      </a:accent5>
      <a:accent6>
        <a:srgbClr val="84A3FD"/>
      </a:accent6>
      <a:hlink>
        <a:srgbClr val="6ED4F6"/>
      </a:hlink>
      <a:folHlink>
        <a:srgbClr val="9FECFC"/>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106000"/>
                <a:satMod val="220000"/>
                <a:lumMod val="140000"/>
              </a:schemeClr>
            </a:gs>
            <a:gs pos="50000">
              <a:schemeClr val="phClr">
                <a:shade val="100000"/>
                <a:hueMod val="100000"/>
                <a:satMod val="110000"/>
                <a:lumMod val="130000"/>
              </a:schemeClr>
            </a:gs>
            <a:gs pos="100000">
              <a:schemeClr val="phClr">
                <a:shade val="69000"/>
                <a:hueMod val="88000"/>
                <a:satMod val="16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7D30EEFE-7128-4DE5-8A0D-8D4EF32CB0AF}"/>
    </a:ext>
  </a:extLst>
</a:theme>
</file>

<file path=docProps/app.xml><?xml version="1.0" encoding="utf-8"?>
<Properties xmlns="http://schemas.openxmlformats.org/officeDocument/2006/extended-properties" xmlns:vt="http://schemas.openxmlformats.org/officeDocument/2006/docPropsVTypes">
  <Template>Berlin</Template>
  <TotalTime>20310</TotalTime>
  <Words>313</Words>
  <Application>Microsoft Office PowerPoint</Application>
  <PresentationFormat>Widescreen</PresentationFormat>
  <Paragraphs>33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Trebuchet MS</vt:lpstr>
      <vt:lpstr>Wingdings</vt:lpstr>
      <vt:lpstr>Berlin</vt:lpstr>
      <vt:lpstr>HEALTHCARE DASHBOARD ANALYSIS REPORT</vt:lpstr>
      <vt:lpstr>EXECUTIVE SUMMARY </vt:lpstr>
      <vt:lpstr>PATIENT PERFORMANCE INSIGHT </vt:lpstr>
      <vt:lpstr>PATIENT PERFORMANCE INSIGHT</vt:lpstr>
      <vt:lpstr>RECOMMENDATIONS</vt:lpstr>
      <vt:lpstr>TABLE CHART OF THE MEAN AND MEDIAN </vt:lpstr>
      <vt:lpstr>YTD PATIENT BY AGE_PROFILE &amp; CASE_TYPE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DATABOARD REPORT</dc:title>
  <dc:creator>Abiodun Victor</dc:creator>
  <cp:lastModifiedBy>Abiodun Victor</cp:lastModifiedBy>
  <cp:revision>36</cp:revision>
  <dcterms:created xsi:type="dcterms:W3CDTF">2026-02-19T13:03:32Z</dcterms:created>
  <dcterms:modified xsi:type="dcterms:W3CDTF">2026-03-11T13:19:41Z</dcterms:modified>
</cp:coreProperties>
</file>